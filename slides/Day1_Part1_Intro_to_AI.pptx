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DAY 1  •  SESSION 1  of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Intro to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CFE3F5"/>
                </a:solidFill>
                <a:latin typeface="Calibri"/>
              </a:rPr>
              <a:t>What it is. How it thinks. Why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An hour with no jargon, lots of intuition.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This Hour Looks Like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777240" cy="77724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777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45920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What is AI, really?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84832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Strip away the buzzwords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37160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7959" y="1691640"/>
            <a:ext cx="777240" cy="77724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1719072"/>
            <a:ext cx="777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45920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AI vs ML vs DL vs GenAI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84832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One picture, no confusion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3246120"/>
            <a:ext cx="777240" cy="77724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777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200400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How does an LLM 'think'?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639312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The next-word game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92608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37959" y="3246120"/>
            <a:ext cx="777240" cy="77724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59" y="3273552"/>
            <a:ext cx="777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00400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Why now? What changed?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639312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The 3 reasons AI exploded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8056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7240" y="4800600"/>
            <a:ext cx="777240" cy="77724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828032"/>
            <a:ext cx="777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754880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What AI is great 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193792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And what it's terrible 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448056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537959" y="4800600"/>
            <a:ext cx="777240" cy="77724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59" y="4828032"/>
            <a:ext cx="777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754880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How we talk to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193792"/>
            <a:ext cx="4114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Prompts, tokens, 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So… what is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Forget the movies for a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9418320" cy="18288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052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AI is software that learns patterns from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88920"/>
            <a:ext cx="9052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>
                <a:solidFill>
                  <a:srgbClr val="F4A261"/>
                </a:solidFill>
                <a:latin typeface="Calibri"/>
              </a:rPr>
              <a:t>instead of following hand-written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libri"/>
              </a:rPr>
              <a:t>A familiar analogy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4183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1F2D3D"/>
                </a:solidFill>
                <a:latin typeface="Calibri"/>
              </a:rPr>
              <a:t>We don't teach a child what a 'cat' is by listing rules</a:t>
            </a:r>
          </a:p>
          <a:p>
            <a:pPr algn="ctr"/>
            <a:r>
              <a:rPr sz="1600" b="0">
                <a:solidFill>
                  <a:srgbClr val="1F2D3D"/>
                </a:solidFill>
                <a:latin typeface="Calibri"/>
              </a:rPr>
              <a:t>(“4 legs, fur, whiskers, pointy ears…”).</a:t>
            </a:r>
          </a:p>
          <a:p>
            <a:pPr algn="ctr"/>
            <a:r>
              <a:rPr sz="1600" b="0">
                <a:solidFill>
                  <a:srgbClr val="1F2D3D"/>
                </a:solidFill>
                <a:latin typeface="Calibri"/>
              </a:rPr>
              <a:t>We show them many cats. They figure out the pattern.</a:t>
            </a:r>
          </a:p>
          <a:p>
            <a:pPr algn="ctr"/>
            <a:r>
              <a:rPr sz="1600" b="0">
                <a:solidFill>
                  <a:srgbClr val="1F2D3D"/>
                </a:solidFill>
                <a:latin typeface="Calibri"/>
              </a:rPr>
              <a:t>AI learns the same way — just with millions of examples.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Does ChatGPT 'Think'?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Spoiler: it doesn't. It plays the world's best guessing game.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Calibri"/>
              </a:rPr>
              <a:t>Everything an LLM does boils down to ONE skill: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F4A261"/>
                </a:solidFill>
                <a:latin typeface="Calibri"/>
              </a:rPr>
              <a:t>Predicting the next word.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You type: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108813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“The capital of France is ___”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The AI considers every possible next word and picks the most likely one: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Paris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92%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43484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45262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Lyon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8463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443484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556677"/>
          </a:solidFill>
          <a:ln w="15875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7840" y="45262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8463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43484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556677"/>
          </a:solidFill>
          <a:ln w="15875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45262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beautiful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8463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Calibri"/>
              </a:rPr>
              <a:t>Then it adds that word, asks again, adds another, asks again…</a:t>
            </a:r>
          </a:p>
          <a:p>
            <a:pPr algn="ctr"/>
            <a:r>
              <a:rPr sz="1400" b="0">
                <a:solidFill>
                  <a:srgbClr val="1F2D3D"/>
                </a:solidFill>
                <a:latin typeface="Calibri"/>
              </a:rPr>
              <a:t>Billions of these tiny guesses → essays, code, lesson plans.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Then how is it so smart?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Because it read… almost everything.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194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Millions of them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37160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1600200"/>
            <a:ext cx="2194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423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Wikipedia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8803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Every article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600200"/>
            <a:ext cx="2194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23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803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GitHub &amp; more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59" y="137160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59" y="1600200"/>
            <a:ext cx="2194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2423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News &amp; 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28803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Years of articles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37160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1600200"/>
            <a:ext cx="2194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423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Conversations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8803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Public forums, Q&amp;A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31920"/>
            <a:ext cx="10881360" cy="219456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16052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Imagine this: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63440"/>
            <a:ext cx="105156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 student who has read every textbook, every research paper,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every blog and every conversation on the internet —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and remembers the patterns in all of it.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That's roughly what a modern LLM 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is AI Exploding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The idea is old. Three things finally lined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97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0">
                <a:solidFill>
                  <a:srgbClr val="1F2D3D"/>
                </a:solidFill>
                <a:latin typeface="Calibr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5448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57400"/>
            <a:ext cx="9144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The internet gave us oceans of text, images, and video.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AI needs examples — and now we have billions.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64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1097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0">
                <a:solidFill>
                  <a:srgbClr val="1F2D3D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4612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49040"/>
            <a:ext cx="9144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GPUs designed for video games turned out to be perfect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for training AI. Cloud made them rentable by the hour.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1097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0">
                <a:solidFill>
                  <a:srgbClr val="1F2D3D"/>
                </a:solidFill>
                <a:latin typeface="Calibri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93776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Algorithms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440680"/>
            <a:ext cx="9144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A 2017 breakthrough called the Transformer made it possible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to train models on huge data efficiently.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AI is Brilliant at  —  and Bad 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Setting honest expectations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7784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577840" cy="64008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577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✅  Great 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Summarizing long documents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Drafting emails, reports, lesson plans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Explaining concepts in simple language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Translating between languages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Generating ideas &amp; brainstorming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Writing &amp; explaining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640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⚠️  Watch out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Confidently making things up (hallucinations)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Math &amp; precise calculations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Anything after its training cutoff date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Your private/institutional data — it never saw 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Remembering previous chats (no real memory)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Being a source of truth without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We Talk to AI  — 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A prompt is just an instruction in plain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556677"/>
                </a:solidFill>
                <a:latin typeface="Calibri"/>
              </a:rPr>
              <a:t>Weak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4864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51206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“Write something about AI.”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9B9E"/>
                </a:solidFill>
                <a:latin typeface="Calibri"/>
              </a:rPr>
              <a:t>Strong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548640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512064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“You are a teacher explaining AI to first-year</a:t>
            </a:r>
          </a:p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engineering students.</a:t>
            </a:r>
          </a:p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Write a 200-word intro using a real-world</a:t>
            </a:r>
          </a:p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analogy. Keep it friendly. Avoid jargon.”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280160"/>
            <a:ext cx="5120640" cy="493776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1463040"/>
            <a:ext cx="4754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4A261"/>
                </a:solidFill>
                <a:latin typeface="Calibri"/>
              </a:rPr>
              <a:t>The 4-part recipe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2860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5176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Who should the AI act 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004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56616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What exactly should it 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1148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8056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What background does it need?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0292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39496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How should the answer look?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Tokens, Context &amp; Why They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The hidden 'units' the AI actually sees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AI doesn't read words. It reads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280160"/>
            <a:ext cx="7315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4A261"/>
                </a:solidFill>
                <a:latin typeface="Calibri"/>
              </a:rPr>
              <a:t>tokens.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“Faculty workshop on AI”  becomes: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Faculty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28600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242316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28600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242316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shop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228600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242316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28600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2423160"/>
            <a:ext cx="1463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Why faculty should care: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More tokens in = more cost &amp; slower response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Every model has a 'context window' — a max number of tokens it can see at once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If your document is too big, you must summarize or use RAG (post-lunch session!)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This is the single biggest factor in real-world AI cost and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is Already in Your Pocket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You and your students use it every single day — often without knowing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27889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2788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Netflix / YouTube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2788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“Recommended for you” is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280160"/>
            <a:ext cx="27889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73552" y="1463040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🗺️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194560"/>
            <a:ext cx="2788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Google 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651760"/>
            <a:ext cx="2788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Traffic + ETA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280160"/>
            <a:ext cx="27889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1344" y="1463040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2194560"/>
            <a:ext cx="2788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Phone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651760"/>
            <a:ext cx="2788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Portrait mode, night mode, face unlock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1280160"/>
            <a:ext cx="27889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89136" y="1463040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194560"/>
            <a:ext cx="2788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Amazon / Flipkart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651760"/>
            <a:ext cx="2788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Product ranking &amp; fraud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657600"/>
            <a:ext cx="27889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840480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572000"/>
            <a:ext cx="2788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WhatsApp / Gmail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029200"/>
            <a:ext cx="2788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Smart reply, spam filter, translate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73552" y="3657600"/>
            <a:ext cx="27889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73552" y="3840480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4572000"/>
            <a:ext cx="2788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Spotify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3552" y="5029200"/>
            <a:ext cx="2788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Discover Weekly is 100%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3657600"/>
            <a:ext cx="27889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81344" y="3840480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4572000"/>
            <a:ext cx="2788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UPI / Banking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5029200"/>
            <a:ext cx="2788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Real-time fraud detection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9136" y="3657600"/>
            <a:ext cx="27889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89136" y="3840480"/>
            <a:ext cx="2788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572000"/>
            <a:ext cx="2788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Uber / Ola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5029200"/>
            <a:ext cx="2788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Surge pricing, driver matching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4A261"/>
                </a:solidFill>
                <a:latin typeface="Calibri"/>
              </a:rPr>
              <a:t>Your students are AI users already. Our job: turn them into AI builders.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IT Industry is Actually Shipping (2024–26)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The tools your students will use — or build — in their first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7498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640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1F2D3D"/>
                </a:solidFill>
                <a:latin typeface="Calibri"/>
              </a:rP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89888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91640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4A261"/>
                </a:solidFill>
                <a:latin typeface="Calibri"/>
              </a:rPr>
              <a:t>55% faster code completion (GitHub study)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481328"/>
            <a:ext cx="7863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GitHub Copilot, Cursor, Claude Code, Devin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21408"/>
            <a:ext cx="11247120" cy="7498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640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1F2D3D"/>
                </a:solidFill>
                <a:latin typeface="Calibri"/>
              </a:rP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31136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Design &amp; 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32888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4A261"/>
                </a:solidFill>
                <a:latin typeface="Calibri"/>
              </a:rPr>
              <a:t>Ads, posters, voice-overs, short films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22576"/>
            <a:ext cx="7863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Midjourney, DALL·E, Runway, ElevenLabs, Sora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62656"/>
            <a:ext cx="11247120" cy="7498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127248"/>
            <a:ext cx="640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1F2D3D"/>
                </a:solidFill>
                <a:latin typeface="Calibri"/>
              </a:rPr>
              <a:t>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72384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Search &amp;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74136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4A261"/>
                </a:solidFill>
                <a:latin typeface="Calibri"/>
              </a:rPr>
              <a:t>Search is being rewritten in real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163824"/>
            <a:ext cx="7863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Perplexity, ChatGPT Search, Google AI Overviews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03904"/>
            <a:ext cx="11247120" cy="7498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968496"/>
            <a:ext cx="640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1F2D3D"/>
                </a:solidFill>
                <a:latin typeface="Calibri"/>
              </a:rP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13632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15384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4A261"/>
                </a:solidFill>
                <a:latin typeface="Calibri"/>
              </a:rPr>
              <a:t>AI that books, browses, and acts for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05072"/>
            <a:ext cx="7863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AutoGPT, LangChain, CrewAI, OpenAI Operator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45152"/>
            <a:ext cx="11247120" cy="7498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809744"/>
            <a:ext cx="640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1F2D3D"/>
                </a:solidFill>
                <a:latin typeface="Calibri"/>
              </a:rPr>
              <a:t>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754880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Customer 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056632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4A261"/>
                </a:solidFill>
                <a:latin typeface="Calibri"/>
              </a:rPr>
              <a:t>60–80% of L1 support handled by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846320"/>
            <a:ext cx="7863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Intercom Fin, Zendesk AI, Salesforce Einstein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86400"/>
            <a:ext cx="11247120" cy="7498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650992"/>
            <a:ext cx="640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1F2D3D"/>
                </a:solidFill>
                <a:latin typeface="Calibri"/>
              </a:rP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96128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Enterprise RAG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97880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4A261"/>
                </a:solidFill>
                <a:latin typeface="Calibri"/>
              </a:rPr>
              <a:t>Chat with your company's documents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687568"/>
            <a:ext cx="7863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Glean, Notion AI, Microsoft Copilot for M365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Industries Already Being Rewired by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It's not just tech companies anymore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7947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0">
                <a:solidFill>
                  <a:srgbClr val="1F2D3D"/>
                </a:solidFill>
                <a:latin typeface="Calibri"/>
              </a:rPr>
              <a:t>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33832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AI reads X-rays &amp; MRIs at radiologist-level.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Drug discovery cut from years to months.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Example: AlphaFold mapped 200M+ proteins.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280160"/>
            <a:ext cx="37947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417320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0">
                <a:solidFill>
                  <a:srgbClr val="1F2D3D"/>
                </a:solidFill>
                <a:latin typeface="Calibri"/>
              </a:rP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46304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Finance &amp; Banking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48840"/>
            <a:ext cx="33832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Fraud detection on every UPI transaction.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AI traders, AI loan underwriting, AI KYC.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JPMorgan saves 360k lawyer-hours/year.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1280160"/>
            <a:ext cx="37947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1417320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0">
                <a:solidFill>
                  <a:srgbClr val="1F2D3D"/>
                </a:solidFill>
                <a:latin typeface="Calibri"/>
              </a:rPr>
              <a:t>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146304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Automotive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148840"/>
            <a:ext cx="33832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Tesla Autopilot, Waymo robotaxis.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AI designs car parts lighter &amp; stronger.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Predictive maintenance for fleets.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94760"/>
            <a:ext cx="37947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0">
                <a:solidFill>
                  <a:srgbClr val="1F2D3D"/>
                </a:solidFill>
                <a:latin typeface="Calibri"/>
              </a:rPr>
              <a:t>🛍️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97764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Retail &amp; E-commerce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63440"/>
            <a:ext cx="33832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Personalised pricing &amp; recommendations.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AI demand forecasting, smart warehouses.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Virtual try-on for clothes &amp; makeup.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794760"/>
            <a:ext cx="37947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98848" y="3931920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0">
                <a:solidFill>
                  <a:srgbClr val="1F2D3D"/>
                </a:solidFill>
                <a:latin typeface="Calibri"/>
              </a:rPr>
              <a:t>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97764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Manufacturing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663440"/>
            <a:ext cx="33832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Computer-vision defect detection.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Digital twins for entire factories.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Predictive maintenance saves crores.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6" y="3794760"/>
            <a:ext cx="37947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49056" y="3931920"/>
            <a:ext cx="731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0">
                <a:solidFill>
                  <a:srgbClr val="1F2D3D"/>
                </a:solidFill>
                <a:latin typeface="Calibri"/>
              </a:rP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397764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Media &amp; Marketing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4776" y="4663440"/>
            <a:ext cx="33832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AI-generated ads, scripts, thumbnails.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Hyper-personalised content at scale.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Real-time dubbing into 30+ languages.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Jobs Your Students Should Aim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What recruiters in 2026 are actually hiring — and what to teach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Hot roles  ·  India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685800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7335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AI / ML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Python, PyTorch, MLOps, system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300" b="1">
                <a:solidFill>
                  <a:srgbClr val="F4A261"/>
                </a:solidFill>
                <a:latin typeface="Calibri"/>
              </a:rPr>
              <a:t>₹12–40 LPA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685800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GenAI / LLM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6090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Prompting, RAG, LangChain, vector DBs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96312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300" b="1">
                <a:solidFill>
                  <a:srgbClr val="F4A261"/>
                </a:solidFill>
                <a:latin typeface="Calibri"/>
              </a:rPr>
              <a:t>₹15–60 LPA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26664"/>
            <a:ext cx="685800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099816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Data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74136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SQL, Spark, Airflow, cloud data lakes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09544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300" b="1">
                <a:solidFill>
                  <a:srgbClr val="F4A261"/>
                </a:solidFill>
                <a:latin typeface="Calibri"/>
              </a:rPr>
              <a:t>₹10–30 LPA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39896"/>
            <a:ext cx="685800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813048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AI Product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87368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Use-case scoping, evals, UX of AI apps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922776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300" b="1">
                <a:solidFill>
                  <a:srgbClr val="F4A261"/>
                </a:solidFill>
                <a:latin typeface="Calibri"/>
              </a:rPr>
              <a:t>₹20–50 LPA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53128"/>
            <a:ext cx="685800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52628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MLOps /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Docker, K8s, model serving,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636008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300" b="1">
                <a:solidFill>
                  <a:srgbClr val="F4A261"/>
                </a:solidFill>
                <a:latin typeface="Calibri"/>
              </a:rPr>
              <a:t>₹14–45 LPA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66360"/>
            <a:ext cx="685800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23951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AI Safety / Red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13832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Eval frameworks, jailbreak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34924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300" b="1">
                <a:solidFill>
                  <a:srgbClr val="F4A261"/>
                </a:solidFill>
                <a:latin typeface="Calibri"/>
              </a:rPr>
              <a:t>₹15–40 LPA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1188720"/>
            <a:ext cx="4114800" cy="50292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0" y="1371600"/>
            <a:ext cx="37490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What to teach 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1874519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Python + Git fundamentals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28600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Calling LLM APIs (OpenAI / Gemini)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2697479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Prompt engineering basics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1089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RAG: chat with your own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520439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Vector databases (Chroma, FAISS)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93192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Agent frameworks (LangChain)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34340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Streamlit for quick demos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754879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Evaluating AI outputs critically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Mindset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How to think about AI — not as magic, not as a threat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64008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OLD WAY of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“AI will replace me.”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“It's only for tech people.”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“If it's wrong once, it's useless.”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“I must learn coding first.”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86400" cy="640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NEW WAY of 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“AI is a faster intern I can supervise.”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“Anyone who can write clearly can use it.”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“I verify — but it saves me 70% of the draft time.”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“I'll learn by using it on my real work.”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4A261"/>
                </a:solidFill>
                <a:latin typeface="Calibri"/>
              </a:rPr>
              <a:t>UP NEXT  —  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Enough Theory.</a:t>
            </a:r>
          </a:p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Let's See It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We'll take everything you just learned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prompts, tokens, the next-word game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4A261"/>
                </a:solidFill>
                <a:latin typeface="Calibri"/>
              </a:rPr>
              <a:t>and watch a real AI Faculty Assistant work on student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🎓  Live Demo — AI Faculty Assistant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Quick Questions Before We Demo?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Anything unclear about: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2D3D"/>
                </a:solidFill>
                <a:latin typeface="Calibri"/>
              </a:rPr>
              <a:t>›  What AI actually is?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2D3D"/>
                </a:solidFill>
                <a:latin typeface="Calibri"/>
              </a:rPr>
              <a:t>›  How it 'thinks' (the next-word game)?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2D3D"/>
                </a:solidFill>
                <a:latin typeface="Calibri"/>
              </a:rPr>
              <a:t>›  Why it's brilliant at some things and bad at others?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2D3D"/>
                </a:solidFill>
                <a:latin typeface="Calibri"/>
              </a:rPr>
              <a:t>›  What prompts and tokens mean?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09B9E"/>
                </a:solidFill>
                <a:latin typeface="Calibri"/>
              </a:rPr>
              <a:t>Ask anything — no question is too basic.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1 — Intro to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1649</Words>
  <Application>Microsoft Office PowerPoint</Application>
  <PresentationFormat>Widescreen</PresentationFormat>
  <Paragraphs>303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Nirmal Kumar</cp:lastModifiedBy>
  <cp:revision>3</cp:revision>
  <dcterms:created xsi:type="dcterms:W3CDTF">2013-01-27T09:14:16Z</dcterms:created>
  <dcterms:modified xsi:type="dcterms:W3CDTF">2026-05-15T04:09:02Z</dcterms:modified>
  <cp:category/>
</cp:coreProperties>
</file>