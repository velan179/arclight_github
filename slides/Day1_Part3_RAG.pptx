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10972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45720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DAY 1  •  SESSION 3  of  4   —   POST LUNCH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097280"/>
            <a:ext cx="10972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0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46888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  <a:latin typeface="Calibri"/>
              </a:rPr>
              <a:t>Retrieval-Augmented Generation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20040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0">
                <a:solidFill>
                  <a:srgbClr val="CFE3F5"/>
                </a:solidFill>
                <a:latin typeface="Calibri"/>
              </a:rPr>
              <a:t>Giving AI access to YOUR knowledge — safely, cheaply, accurately.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55778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Two-Day Workshop on Agentic AI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Before Lunch, We Saw…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Excel → Prompt → LLM. Beautiful. But limited.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Calibri"/>
              </a:rPr>
              <a:t>The demo worked because the dataset was small.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92024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But what if your knowledge base is…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48640" y="2743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306324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📚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28800" y="3154680"/>
            <a:ext cx="40233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10,000 PDFs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309359" y="274320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83679" y="306324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589519" y="3154680"/>
            <a:ext cx="40233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20 years of policies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420624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2960" y="452628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828800" y="4617720"/>
            <a:ext cx="40233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Every research paper in your dept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309359" y="4206240"/>
            <a:ext cx="5486400" cy="12801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583679" y="452628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📋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589519" y="4617720"/>
            <a:ext cx="402336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B2A4A"/>
                </a:solidFill>
                <a:latin typeface="Calibri"/>
              </a:rPr>
              <a:t>All NAAC / NBA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5852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4A261"/>
                </a:solidFill>
                <a:latin typeface="Calibri"/>
              </a:rPr>
              <a:t>Can we paste all of that into every prompt?  No. So what then?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Why We Can't Just 'Send Everything'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Three hard limits of the simple approach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370332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57200" y="1737360"/>
            <a:ext cx="37033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600" b="0">
                <a:solidFill>
                  <a:srgbClr val="1F2D3D"/>
                </a:solidFill>
                <a:latin typeface="Calibri"/>
              </a:rPr>
              <a:t>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2834640"/>
            <a:ext cx="3703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0B2A4A"/>
                </a:solidFill>
                <a:latin typeface="Calibri"/>
              </a:rPr>
              <a:t>It's expensive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474720"/>
            <a:ext cx="310896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1F2D3D"/>
                </a:solidFill>
                <a:latin typeface="Calibri"/>
              </a:rPr>
              <a:t>Every token costs money. 10,000 PDFs = millions of tokens per query.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1371600"/>
            <a:ext cx="370332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61688" y="1737360"/>
            <a:ext cx="37033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600" b="0">
                <a:solidFill>
                  <a:srgbClr val="1F2D3D"/>
                </a:solidFill>
                <a:latin typeface="Calibri"/>
              </a:rPr>
              <a:t>📏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61688" y="2834640"/>
            <a:ext cx="3703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0B2A4A"/>
                </a:solidFill>
                <a:latin typeface="Calibri"/>
              </a:rPr>
              <a:t>It doesn't fit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36008" y="3474720"/>
            <a:ext cx="310896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1F2D3D"/>
                </a:solidFill>
                <a:latin typeface="Calibri"/>
              </a:rPr>
              <a:t>Every LLM has a context window. Even huge ones can't hold a library.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266175" y="1371600"/>
            <a:ext cx="370332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66175" y="1737360"/>
            <a:ext cx="370332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5600" b="0">
                <a:solidFill>
                  <a:srgbClr val="1F2D3D"/>
                </a:solidFill>
                <a:latin typeface="Calibri"/>
              </a:rPr>
              <a:t>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66175" y="2834640"/>
            <a:ext cx="3703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0B2A4A"/>
                </a:solidFill>
                <a:latin typeface="Calibri"/>
              </a:rPr>
              <a:t>It's distracting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540495" y="3474720"/>
            <a:ext cx="3108960" cy="22860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1F2D3D"/>
                </a:solidFill>
                <a:latin typeface="Calibri"/>
              </a:rPr>
              <a:t>More irrelevant text in → worse, less focused answers out.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603504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009B9E"/>
                </a:solidFill>
                <a:latin typeface="Calibri"/>
              </a:rPr>
              <a:t>The fix?  Don't send everything. Send only what's relevant.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Open-Book Exam Analogy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This is what RAG really is.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Imagine two students taking the same exam: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920240"/>
            <a:ext cx="548640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920240"/>
            <a:ext cx="5486400" cy="731520"/>
          </a:xfrm>
          <a:prstGeom prst="rect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48640" y="20574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Student A — Closed Book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834640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556677"/>
                </a:solidFill>
                <a:latin typeface="Calibri"/>
              </a:rPr>
              <a:t>Just an LLM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32918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Relies only on what it memorized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Doesn't know YOUR data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May confidently make things up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Cutoff date = stale info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920240"/>
            <a:ext cx="5486400" cy="4297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217920" y="1920240"/>
            <a:ext cx="5486400" cy="7315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0574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Student B — Open Book (RAG)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46520" y="2834640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LLM + the right pages, fetched live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46520" y="3291840"/>
            <a:ext cx="512064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Looks up the exact relevant pages first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Grounds every answer in your documents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Cites sources you can verify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Stays up-to-date as you add new docs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914400"/>
            <a:ext cx="109728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200" b="1">
                <a:solidFill>
                  <a:srgbClr val="F4A261"/>
                </a:solidFill>
                <a:latin typeface="Calibri"/>
              </a:rPr>
              <a:t>RAG, in one sentence: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Find the right snippets,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365760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200" b="1">
                <a:solidFill>
                  <a:srgbClr val="FFFFFF"/>
                </a:solidFill>
                <a:latin typeface="Calibri"/>
              </a:rPr>
              <a:t>hand them to the LLM,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846320"/>
            <a:ext cx="10972800" cy="13716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4200" b="1">
                <a:solidFill>
                  <a:srgbClr val="F4A261"/>
                </a:solidFill>
                <a:latin typeface="Calibri"/>
              </a:rPr>
              <a:t>ask the question.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RAG Pipeline  —  5 Steps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Two phases: prepare once, then answer forever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09B9E"/>
                </a:solidFill>
                <a:latin typeface="Calibri"/>
              </a:rPr>
              <a:t>PHASE 1  —  Prepare your knowledge (done once, or whenever docs change)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98067" y="1600200"/>
            <a:ext cx="23774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98067" y="1691640"/>
            <a:ext cx="2377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Calibri"/>
              </a:rPr>
              <a:t>📄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8067" y="205740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Ingest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98067" y="2423160"/>
            <a:ext cx="23774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Load PDFs,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docs, web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329787" y="2148840"/>
            <a:ext cx="320040" cy="228600"/>
          </a:xfrm>
          <a:prstGeom prst="rightArrow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604107" y="1600200"/>
            <a:ext cx="23774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604107" y="1691640"/>
            <a:ext cx="2377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Calibri"/>
              </a:rPr>
              <a:t>✂️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04107" y="205740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Chunk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04107" y="2423160"/>
            <a:ext cx="23774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Split into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small pieces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5935827" y="2148840"/>
            <a:ext cx="320040" cy="228600"/>
          </a:xfrm>
          <a:prstGeom prst="rightArrow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10147" y="1600200"/>
            <a:ext cx="23774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10147" y="1691640"/>
            <a:ext cx="2377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Calibri"/>
              </a:rPr>
              <a:t>🔢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0147" y="205740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Embed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0147" y="2423160"/>
            <a:ext cx="23774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Turn each piece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into numbers</a:t>
            </a:r>
          </a:p>
        </p:txBody>
      </p:sp>
      <p:sp>
        <p:nvSpPr>
          <p:cNvPr id="22" name="Right Arrow 21"/>
          <p:cNvSpPr/>
          <p:nvPr/>
        </p:nvSpPr>
        <p:spPr>
          <a:xfrm>
            <a:off x="8541867" y="2148840"/>
            <a:ext cx="320040" cy="228600"/>
          </a:xfrm>
          <a:prstGeom prst="rightArrow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ounded Rectangle 22"/>
          <p:cNvSpPr/>
          <p:nvPr/>
        </p:nvSpPr>
        <p:spPr>
          <a:xfrm>
            <a:off x="8816187" y="1600200"/>
            <a:ext cx="23774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816187" y="1691640"/>
            <a:ext cx="2377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Calibri"/>
              </a:rPr>
              <a:t>🗄️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16187" y="205740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Store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816187" y="2423160"/>
            <a:ext cx="23774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Save in a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Vector DB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40080" y="35204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F4A261"/>
                </a:solidFill>
                <a:latin typeface="Calibri"/>
              </a:rPr>
              <a:t>PHASE 2  —  Answer the question (every time the user asks)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98067" y="3931920"/>
            <a:ext cx="23774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98067" y="4023360"/>
            <a:ext cx="2377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Calibri"/>
              </a:rPr>
              <a:t>❓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98067" y="438912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User asks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98067" y="4754880"/>
            <a:ext cx="23774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“What's the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leave policy?”</a:t>
            </a:r>
          </a:p>
        </p:txBody>
      </p:sp>
      <p:sp>
        <p:nvSpPr>
          <p:cNvPr id="32" name="Right Arrow 31"/>
          <p:cNvSpPr/>
          <p:nvPr/>
        </p:nvSpPr>
        <p:spPr>
          <a:xfrm>
            <a:off x="3329787" y="4480560"/>
            <a:ext cx="320040" cy="22860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ounded Rectangle 32"/>
          <p:cNvSpPr/>
          <p:nvPr/>
        </p:nvSpPr>
        <p:spPr>
          <a:xfrm>
            <a:off x="3604107" y="3931920"/>
            <a:ext cx="23774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3604107" y="4023360"/>
            <a:ext cx="2377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Calibri"/>
              </a:rPr>
              <a:t>🔍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3604107" y="438912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Retrieve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04107" y="4754880"/>
            <a:ext cx="23774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Find the most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relevant chunks</a:t>
            </a:r>
          </a:p>
        </p:txBody>
      </p:sp>
      <p:sp>
        <p:nvSpPr>
          <p:cNvPr id="37" name="Right Arrow 36"/>
          <p:cNvSpPr/>
          <p:nvPr/>
        </p:nvSpPr>
        <p:spPr>
          <a:xfrm>
            <a:off x="5935827" y="4480560"/>
            <a:ext cx="320040" cy="22860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ounded Rectangle 37"/>
          <p:cNvSpPr/>
          <p:nvPr/>
        </p:nvSpPr>
        <p:spPr>
          <a:xfrm>
            <a:off x="6210147" y="3931920"/>
            <a:ext cx="23774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6210147" y="4023360"/>
            <a:ext cx="2377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Calibri"/>
              </a:rPr>
              <a:t>📦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6210147" y="438912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Build prompt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10147" y="4754880"/>
            <a:ext cx="23774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Question + chunks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→ context</a:t>
            </a:r>
          </a:p>
        </p:txBody>
      </p:sp>
      <p:sp>
        <p:nvSpPr>
          <p:cNvPr id="42" name="Right Arrow 41"/>
          <p:cNvSpPr/>
          <p:nvPr/>
        </p:nvSpPr>
        <p:spPr>
          <a:xfrm>
            <a:off x="8541867" y="4480560"/>
            <a:ext cx="320040" cy="228600"/>
          </a:xfrm>
          <a:prstGeom prst="rightArrow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ounded Rectangle 42"/>
          <p:cNvSpPr/>
          <p:nvPr/>
        </p:nvSpPr>
        <p:spPr>
          <a:xfrm>
            <a:off x="8816187" y="3931920"/>
            <a:ext cx="2377440" cy="14630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816187" y="4023360"/>
            <a:ext cx="23774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400" b="0">
                <a:solidFill>
                  <a:srgbClr val="1F2D3D"/>
                </a:solidFill>
                <a:latin typeface="Calibri"/>
              </a:rPr>
              <a:t>🤖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816187" y="438912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LLM answers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816187" y="4754880"/>
            <a:ext cx="23774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Grounded in</a:t>
            </a:r>
          </a:p>
          <a:p>
            <a:pPr algn="ctr"/>
            <a:r>
              <a:rPr sz="1100" b="0">
                <a:solidFill>
                  <a:srgbClr val="556677"/>
                </a:solidFill>
                <a:latin typeface="Calibri"/>
              </a:rPr>
              <a:t>your docs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48640" y="58521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We'll walk through each piece next — gently.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Step 1  —  Chunking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Why we slice documents into bite-sized pieces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0">
                <a:solidFill>
                  <a:srgbClr val="1F2D3D"/>
                </a:solidFill>
                <a:latin typeface="Calibri"/>
              </a:rPr>
              <a:t>A 200-page PDF is too big to retrieve as one unit.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2286000" cy="29260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94560"/>
            <a:ext cx="22860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200-page PDF</a:t>
            </a:r>
          </a:p>
        </p:txBody>
      </p:sp>
      <p:sp>
        <p:nvSpPr>
          <p:cNvPr id="10" name="Rectangle 9"/>
          <p:cNvSpPr/>
          <p:nvPr/>
        </p:nvSpPr>
        <p:spPr>
          <a:xfrm>
            <a:off x="914400" y="2651760"/>
            <a:ext cx="1737360" cy="2286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914400" y="2971800"/>
            <a:ext cx="1737360" cy="2286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914400" y="3291839"/>
            <a:ext cx="1737360" cy="2286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914400" y="3611879"/>
            <a:ext cx="1737360" cy="2286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914400" y="3931920"/>
            <a:ext cx="1737360" cy="2286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914400" y="4251960"/>
            <a:ext cx="1737360" cy="228600"/>
          </a:xfrm>
          <a:prstGeom prst="rect">
            <a:avLst/>
          </a:prstGeom>
          <a:solidFill>
            <a:srgbClr val="E8F1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ight Arrow 15"/>
          <p:cNvSpPr/>
          <p:nvPr/>
        </p:nvSpPr>
        <p:spPr>
          <a:xfrm>
            <a:off x="3108960" y="3291840"/>
            <a:ext cx="822960" cy="365760"/>
          </a:xfrm>
          <a:prstGeom prst="rightArrow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114800" y="201168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Chunks (~300-500 words each)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114800" y="246888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114800" y="2578608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Chunk 1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126480" y="246888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126480" y="2578608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Chunk 2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114800" y="310896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114800" y="3218688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Chunk 3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6126480" y="310896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126480" y="3218688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Chunk 4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0" y="374904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114800" y="3858768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Chunk 5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6126480" y="3749040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0" y="3858768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Chunk 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114800" y="4389119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114800" y="4498847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Chunk 7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6126480" y="4389119"/>
            <a:ext cx="1828800" cy="54864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6126480" y="4498847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Calibri"/>
              </a:rPr>
              <a:t>Chunk 8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595360" y="2011680"/>
            <a:ext cx="3108960" cy="320040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778240" y="214884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F4A261"/>
                </a:solidFill>
                <a:latin typeface="Calibri"/>
              </a:rPr>
              <a:t>Good chunking: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778240" y="2606040"/>
            <a:ext cx="274320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Keeps related ideas together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Small enough to be specific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Big enough to have context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FFFFFF"/>
                </a:solidFill>
                <a:latin typeface="Calibri"/>
              </a:rPr>
              <a:t>•  Often with a little overlap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40080" y="54864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09B9E"/>
                </a:solidFill>
                <a:latin typeface="Calibri"/>
              </a:rPr>
              <a:t>Think of it like cutting a textbook into flashcards — each card stands on its own.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Step 2  —  Embeddings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Turning meaning into numbers so a computer can compare it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Calibri"/>
              </a:rPr>
              <a:t>An embedding is a list of numbers that represents the MEANING of text.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2011680"/>
            <a:ext cx="2194560" cy="594360"/>
          </a:xfrm>
          <a:prstGeom prst="roundRect">
            <a:avLst>
              <a:gd name="adj" fmla="val 12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130552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“dog”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017520" y="2011680"/>
            <a:ext cx="50292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00400" y="2130552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[0.21, -0.45, 0.88, …]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0080" y="2788920"/>
            <a:ext cx="2194560" cy="594360"/>
          </a:xfrm>
          <a:prstGeom prst="roundRect">
            <a:avLst>
              <a:gd name="adj" fmla="val 12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2907792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“puppy”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017520" y="2788920"/>
            <a:ext cx="50292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200400" y="2907792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[0.23, -0.41, 0.86, …]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0080" y="3566160"/>
            <a:ext cx="2194560" cy="594360"/>
          </a:xfrm>
          <a:prstGeom prst="roundRect">
            <a:avLst>
              <a:gd name="adj" fmla="val 12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" y="3685032"/>
            <a:ext cx="21945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“car”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3017520" y="3566160"/>
            <a:ext cx="5029200" cy="594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200400" y="3685032"/>
            <a:ext cx="47548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1F2D3D"/>
                </a:solidFill>
                <a:latin typeface="Calibri"/>
              </a:rPr>
              <a:t>[-0.72, 0.55, 0.10, …]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" y="44805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The magic: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93776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Words/phrases with SIMILAR MEANING get SIMILAR NUMBERS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“dog” and “puppy” live close together; “car” lives far away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So we can find related content even when the wording is different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8595360" y="2011680"/>
            <a:ext cx="3108960" cy="237744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778240" y="2103120"/>
            <a:ext cx="27432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Meaning-space</a:t>
            </a:r>
          </a:p>
        </p:txBody>
      </p:sp>
      <p:sp>
        <p:nvSpPr>
          <p:cNvPr id="24" name="Oval 23"/>
          <p:cNvSpPr/>
          <p:nvPr/>
        </p:nvSpPr>
        <p:spPr>
          <a:xfrm>
            <a:off x="9326880" y="2743200"/>
            <a:ext cx="274320" cy="2743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646920" y="274320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dog</a:t>
            </a:r>
          </a:p>
        </p:txBody>
      </p:sp>
      <p:sp>
        <p:nvSpPr>
          <p:cNvPr id="26" name="Oval 25"/>
          <p:cNvSpPr/>
          <p:nvPr/>
        </p:nvSpPr>
        <p:spPr>
          <a:xfrm>
            <a:off x="9509760" y="3108960"/>
            <a:ext cx="274320" cy="2743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829800" y="3108960"/>
            <a:ext cx="18288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puppy</a:t>
            </a:r>
          </a:p>
        </p:txBody>
      </p:sp>
      <p:sp>
        <p:nvSpPr>
          <p:cNvPr id="28" name="Oval 27"/>
          <p:cNvSpPr/>
          <p:nvPr/>
        </p:nvSpPr>
        <p:spPr>
          <a:xfrm>
            <a:off x="10789920" y="3840480"/>
            <a:ext cx="274320" cy="274320"/>
          </a:xfrm>
          <a:prstGeom prst="ellipse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241280" y="3840480"/>
            <a:ext cx="54864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100" b="0">
                <a:solidFill>
                  <a:srgbClr val="1F2D3D"/>
                </a:solidFill>
                <a:latin typeface="Calibri"/>
              </a:rPr>
              <a:t>car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Step 3  —  Vector Database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Where the numbered chunks live, and how we find the right ones fast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1F2D3D"/>
                </a:solidFill>
                <a:latin typeface="Calibri"/>
              </a:rPr>
              <a:t>A vector database is built for ONE job: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173736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F4A261"/>
                </a:solidFill>
                <a:latin typeface="Calibri"/>
              </a:rPr>
              <a:t>“Here's a vector. Find the closest ones in milliseconds.”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2743200"/>
            <a:ext cx="2377440" cy="1371600"/>
          </a:xfrm>
          <a:prstGeom prst="roundRect">
            <a:avLst>
              <a:gd name="adj" fmla="val 12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926080"/>
            <a:ext cx="23774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337560"/>
            <a:ext cx="237744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“What's the</a:t>
            </a:r>
          </a:p>
          <a:p>
            <a:pPr algn="ctr"/>
            <a:r>
              <a:rPr sz="1300" b="0">
                <a:solidFill>
                  <a:srgbClr val="FFFFFF"/>
                </a:solidFill>
                <a:latin typeface="Calibri"/>
              </a:rPr>
              <a:t>leave policy?”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108960" y="3291840"/>
            <a:ext cx="640080" cy="274320"/>
          </a:xfrm>
          <a:prstGeom prst="rightArrow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3931920" y="2743200"/>
            <a:ext cx="3200400" cy="137160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31920" y="288036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4A261"/>
                </a:solidFill>
                <a:latin typeface="Calibri"/>
              </a:rPr>
              <a:t>Vector DB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324612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100" b="0">
                <a:solidFill>
                  <a:srgbClr val="FFFFFF"/>
                </a:solidFill>
                <a:latin typeface="Calibri"/>
              </a:rPr>
              <a:t>(thousands of chunks)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931920" y="36118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000" b="0">
                <a:solidFill>
                  <a:srgbClr val="F4A261"/>
                </a:solidFill>
                <a:latin typeface="Calibri"/>
              </a:rPr>
              <a:t>Pinecone · Chroma · FAISS · Weaviate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7223760" y="3291840"/>
            <a:ext cx="640080" cy="274320"/>
          </a:xfrm>
          <a:prstGeom prst="rightArrow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8046720" y="2743200"/>
            <a:ext cx="3657600" cy="137160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0" y="2880360"/>
            <a:ext cx="36576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FFFFF"/>
                </a:solidFill>
                <a:latin typeface="Calibri"/>
              </a:rPr>
              <a:t>Top 3-5 chunks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46720" y="3291840"/>
            <a:ext cx="3657600" cy="6400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The MOST RELEVANT</a:t>
            </a:r>
          </a:p>
          <a:p>
            <a:pPr algn="ctr"/>
            <a:r>
              <a:rPr sz="1200" b="0">
                <a:solidFill>
                  <a:srgbClr val="FFFFFF"/>
                </a:solidFill>
                <a:latin typeface="Calibri"/>
              </a:rPr>
              <a:t>pieces of your documents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0080" y="4572000"/>
            <a:ext cx="1097280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No keyword matching — this is meaning matching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Works even if the user asks the question differently than the doc was written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Returns the top K (usually 3-10) chunks with similarity scores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Putting It All Together  —  One Query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Follow the path of a single question through the system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5187" y="1828800"/>
            <a:ext cx="1645920" cy="1463040"/>
          </a:xfrm>
          <a:prstGeom prst="roundRect">
            <a:avLst>
              <a:gd name="adj" fmla="val 12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6627" y="2194560"/>
            <a:ext cx="14630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User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415387" y="2423160"/>
            <a:ext cx="228600" cy="22860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ounded Rectangle 9"/>
          <p:cNvSpPr/>
          <p:nvPr/>
        </p:nvSpPr>
        <p:spPr>
          <a:xfrm>
            <a:off x="2598267" y="1828800"/>
            <a:ext cx="1645920" cy="146304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89707" y="2194560"/>
            <a:ext cx="14630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Embed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question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4198467" y="2423160"/>
            <a:ext cx="228600" cy="22860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ounded Rectangle 12"/>
          <p:cNvSpPr/>
          <p:nvPr/>
        </p:nvSpPr>
        <p:spPr>
          <a:xfrm>
            <a:off x="4381347" y="1828800"/>
            <a:ext cx="1645920" cy="146304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472787" y="2194560"/>
            <a:ext cx="14630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Search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Vector DB</a:t>
            </a:r>
          </a:p>
        </p:txBody>
      </p:sp>
      <p:sp>
        <p:nvSpPr>
          <p:cNvPr id="15" name="Right Arrow 14"/>
          <p:cNvSpPr/>
          <p:nvPr/>
        </p:nvSpPr>
        <p:spPr>
          <a:xfrm>
            <a:off x="5981547" y="2423160"/>
            <a:ext cx="228600" cy="22860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6164427" y="1828800"/>
            <a:ext cx="1645920" cy="146304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55867" y="2194560"/>
            <a:ext cx="14630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Top chunks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retrieved</a:t>
            </a:r>
          </a:p>
        </p:txBody>
      </p:sp>
      <p:sp>
        <p:nvSpPr>
          <p:cNvPr id="18" name="Right Arrow 17"/>
          <p:cNvSpPr/>
          <p:nvPr/>
        </p:nvSpPr>
        <p:spPr>
          <a:xfrm>
            <a:off x="7764627" y="2423160"/>
            <a:ext cx="228600" cy="22860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7947507" y="1828800"/>
            <a:ext cx="1645920" cy="1463040"/>
          </a:xfrm>
          <a:prstGeom prst="roundRect">
            <a:avLst>
              <a:gd name="adj" fmla="val 12000"/>
            </a:avLst>
          </a:prstGeom>
          <a:solidFill>
            <a:srgbClr val="009B9E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038947" y="2194560"/>
            <a:ext cx="14630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Stuff into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prompt</a:t>
            </a:r>
          </a:p>
        </p:txBody>
      </p:sp>
      <p:sp>
        <p:nvSpPr>
          <p:cNvPr id="21" name="Right Arrow 20"/>
          <p:cNvSpPr/>
          <p:nvPr/>
        </p:nvSpPr>
        <p:spPr>
          <a:xfrm>
            <a:off x="9547707" y="2423160"/>
            <a:ext cx="228600" cy="228600"/>
          </a:xfrm>
          <a:prstGeom prst="rightArrow">
            <a:avLst/>
          </a:prstGeom>
          <a:solidFill>
            <a:srgbClr val="5566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ounded Rectangle 21"/>
          <p:cNvSpPr/>
          <p:nvPr/>
        </p:nvSpPr>
        <p:spPr>
          <a:xfrm>
            <a:off x="9730587" y="1828800"/>
            <a:ext cx="1645920" cy="1463040"/>
          </a:xfrm>
          <a:prstGeom prst="roundRect">
            <a:avLst>
              <a:gd name="adj" fmla="val 12000"/>
            </a:avLst>
          </a:prstGeom>
          <a:solidFill>
            <a:srgbClr val="F4A261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822027" y="2194560"/>
            <a:ext cx="146304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LLM</a:t>
            </a:r>
          </a:p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answer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40080" y="384048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The prompt the LLM actually sees: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640080" y="4206240"/>
            <a:ext cx="10881360" cy="210312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22960" y="4343400"/>
            <a:ext cx="10515600" cy="19202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You are a helpful assistant. Use ONLY the context below to answer.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CONTEXT: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  • Chunk 1: “Faculty are entitled to 12 days of casual leave…”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  • Chunk 2: “Leave applications must be submitted via the HR portal…”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  • Chunk 3: “Medical leave requires a certificate after 3 days…”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QUESTION: What's the leave policy for faculty?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the Code Roughly Looks Like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You don't have to write it — but here's how short it 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18872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B2A4A"/>
                </a:solidFill>
                <a:latin typeface="Calibri"/>
              </a:rPr>
              <a:t>Using LangChain + OpenAI + Chroma (~15 lines):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691640"/>
            <a:ext cx="10881360" cy="420624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828800"/>
            <a:ext cx="10515600" cy="4023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from langchain.document_loaders import PyPDFLoader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from langchain.text_splitter import RecursiveCharacterTextSplitter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from langchain.embeddings import OpenAIEmbeddings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from langchain.vectorstores import Chroma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from langchain.chains import RetrievalQA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from langchain.chat_models import ChatOpenAI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# 1. Load + chunk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docs = PyPDFLoader('policy.pdf').load()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chunks = RecursiveCharacterTextSplitter(chunk_size=500).split_documents(docs)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# 2. Embed + store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db = Chroma.from_documents(chunks, OpenAIEmbeddings())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/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# 3. Ask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qa = RetrievalQA.from_chain_type(ChatOpenAI(), retriever=db.as_retriever())</a:t>
            </a:r>
          </a:p>
          <a:p>
            <a:pPr algn="l"/>
            <a:r>
              <a:rPr sz="1300" b="0">
                <a:solidFill>
                  <a:srgbClr val="FFFFFF"/>
                </a:solidFill>
                <a:latin typeface="Consolas"/>
              </a:rPr>
              <a:t>print(qa.run('What's the leave policy?'))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6035040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4A261"/>
                </a:solidFill>
                <a:latin typeface="Calibri"/>
              </a:rPr>
              <a:t>That's it. Six imports, three steps, one production-grade pattern.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🎬  LIVE DEMO  —  PolicyBot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Let's run RAG on a real document, right now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64008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What we'll do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94560"/>
            <a:ext cx="50292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📄  Upload a Faculty Handbook PDF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✂️  Watch it get chunked &amp; embedded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❓  Ask questions in plain English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✅  See the answer</a:t>
            </a:r>
          </a:p>
          <a:p>
            <a:pPr>
              <a:spcAft>
                <a:spcPts val="600"/>
              </a:spcAft>
            </a:pPr>
            <a:r>
              <a:rPr sz="1500">
                <a:solidFill>
                  <a:srgbClr val="1F2D3D"/>
                </a:solidFill>
                <a:latin typeface="Calibri"/>
              </a:rPr>
              <a:t>•  📑  See the exact chunks the AI used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54864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556677"/>
                </a:solidFill>
                <a:latin typeface="Calibri"/>
              </a:rPr>
              <a:t>policybot.py  •  ~80 lines  •  same Streamlit feel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280160"/>
            <a:ext cx="5486400" cy="493776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1463040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4A261"/>
                </a:solidFill>
                <a:latin typeface="Calibri"/>
              </a:rPr>
              <a:t>Try these questions: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2194560"/>
            <a:ext cx="512064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›  “How many casual leaves do faculty get?”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›  “What's the work-from-home policy?”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›  “What's required to become Associate Professor?”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›  “Can faculty use ChatGPT for student data?”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FFFFFF"/>
                </a:solidFill>
                <a:latin typeface="Calibri"/>
              </a:rPr>
              <a:t>›  “What happens if I'm late 3 times in a month?”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0" y="5486400"/>
            <a:ext cx="51206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1">
                <a:solidFill>
                  <a:srgbClr val="F4A261"/>
                </a:solidFill>
                <a:latin typeface="Calibri"/>
              </a:rPr>
              <a:t>👀  Watch the “Retrieved Chunks” panel — that's the magic.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Prompt-Stuffing vs RAG vs Fine-Tuning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Three tools. Pick the right one.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703320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703320" cy="73152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417320"/>
            <a:ext cx="3703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Prompt-Stuffing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194560"/>
            <a:ext cx="33832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09B9E"/>
                </a:solidFill>
                <a:latin typeface="Calibri"/>
              </a:rPr>
              <a:t>Paste data</a:t>
            </a:r>
          </a:p>
          <a:p>
            <a:pPr algn="ctr"/>
            <a:r>
              <a:rPr sz="1500" b="1">
                <a:solidFill>
                  <a:srgbClr val="009B9E"/>
                </a:solidFill>
                <a:latin typeface="Calibri"/>
              </a:rPr>
              <a:t>into the prompt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20040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Best when: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6616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Tiny datasets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Quick demos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Our morning app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66928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09B9E"/>
                </a:solidFill>
                <a:latin typeface="Calibri"/>
              </a:rPr>
              <a:t>❌ Doesn't scale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61688" y="1280160"/>
            <a:ext cx="3703320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61688" y="1280160"/>
            <a:ext cx="3703320" cy="73152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61688" y="1417320"/>
            <a:ext cx="3703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RAG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44568" y="2194560"/>
            <a:ext cx="33832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F4A261"/>
                </a:solidFill>
                <a:latin typeface="Calibri"/>
              </a:rPr>
              <a:t>Retrieve, then</a:t>
            </a:r>
          </a:p>
          <a:p>
            <a:pPr algn="ctr"/>
            <a:r>
              <a:rPr sz="1500" b="1">
                <a:solidFill>
                  <a:srgbClr val="F4A261"/>
                </a:solidFill>
                <a:latin typeface="Calibri"/>
              </a:rPr>
              <a:t>generate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36008" y="320040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Best when: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36008" y="356616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Large doc sets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Always up-to-date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Need citations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Most enterprise AI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36008" y="566928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4A261"/>
                </a:solidFill>
                <a:latin typeface="Calibri"/>
              </a:rPr>
              <a:t>✅ The sweet spot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8266175" y="1280160"/>
            <a:ext cx="3703320" cy="5029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66175" y="1280160"/>
            <a:ext cx="3703320" cy="73152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266175" y="1417320"/>
            <a:ext cx="37033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Calibri"/>
              </a:rPr>
              <a:t>Fine-Tuning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5" y="2194560"/>
            <a:ext cx="3383280" cy="822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Retrain the</a:t>
            </a:r>
          </a:p>
          <a:p>
            <a:pPr algn="ctr"/>
            <a:r>
              <a:rPr sz="1500" b="1">
                <a:solidFill>
                  <a:srgbClr val="0B2A4A"/>
                </a:solidFill>
                <a:latin typeface="Calibri"/>
              </a:rPr>
              <a:t>model itself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540495" y="3200400"/>
            <a:ext cx="310896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0B2A4A"/>
                </a:solidFill>
                <a:latin typeface="Calibri"/>
              </a:rPr>
              <a:t>Best when: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40495" y="3566160"/>
            <a:ext cx="32004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Custom style/tone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Domain expertise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Rare — expensive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40495" y="5669280"/>
            <a:ext cx="3200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⚠️ Heavy lift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What Could YOU Build with RAG?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Real ideas for this campus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371600"/>
            <a:ext cx="548640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164592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645920" y="1691640"/>
            <a:ext cx="4114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Policy Bot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45920" y="2240280"/>
            <a:ext cx="4114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Ask: “What's the leave rule for visiting faculty?”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Searches HR policy PDFs and answers with citations.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371600"/>
            <a:ext cx="548640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19088" y="1645920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79208" y="1691640"/>
            <a:ext cx="4114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Syllabus Q&amp;A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79208" y="2240280"/>
            <a:ext cx="4114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Students ask any question — bot answers strictly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from course materials you uploaded.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3749039"/>
            <a:ext cx="548640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4023359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🎓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645920" y="4069079"/>
            <a:ext cx="4114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NAAC / NBA Helper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645920" y="4617719"/>
            <a:ext cx="4114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Searches years of accreditation docs to draft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responses to criteria questions.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3749039"/>
            <a:ext cx="5486400" cy="21945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19088" y="4023359"/>
            <a:ext cx="91440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600" b="0">
                <a:solidFill>
                  <a:srgbClr val="1F2D3D"/>
                </a:solidFill>
                <a:latin typeface="Calibri"/>
              </a:rPr>
              <a:t>🔬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379208" y="4069079"/>
            <a:ext cx="4114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Research Companion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79208" y="4617719"/>
            <a:ext cx="4114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Upload 50 papers. Ask cross-paper questions.</a:t>
            </a:r>
          </a:p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Get summaries with sources.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Honest Caveats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RAG is powerful — but it's not magic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508760"/>
            <a:ext cx="7315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📐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737360" y="1417320"/>
            <a:ext cx="9601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Chunk size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37360" y="182880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Too small loses context. Too big drowns the LLM. It's an art.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48640" y="2514600"/>
            <a:ext cx="1106424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743200"/>
            <a:ext cx="7315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🔍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737360" y="2651760"/>
            <a:ext cx="9601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Retrieval can miss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37360" y="306324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If your question uses very different language from the doc, top chunks may not be the best ones.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48640" y="3749039"/>
            <a:ext cx="1106424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77240" y="3977639"/>
            <a:ext cx="7315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737360" y="3886199"/>
            <a:ext cx="9601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Garbage in, garbage out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737360" y="4297679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If your source documents are messy, scanned, or outdated — so is the answer.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548640" y="4983480"/>
            <a:ext cx="11064240" cy="10972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77240" y="5212080"/>
            <a:ext cx="73152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200" b="0">
                <a:solidFill>
                  <a:srgbClr val="1F2D3D"/>
                </a:solidFill>
                <a:latin typeface="Calibri"/>
              </a:rPr>
              <a:t>🔒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37360" y="5120640"/>
            <a:ext cx="9601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0B2A4A"/>
                </a:solidFill>
                <a:latin typeface="Calibri"/>
              </a:rPr>
              <a:t>Privacy still applies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737360" y="5532120"/>
            <a:ext cx="9601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Sending content to an API = data leaves your campus. Use local models for sensitive data.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☠️  Why RAG Exists  —  The Hallucination Problem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Ask a plain LLM about YOUR world — watch it lie confidently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640080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Plain LLM  —  No RAG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556677"/>
                </a:solidFill>
                <a:latin typeface="Calibri"/>
              </a:rPr>
              <a:t>You ask: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468880"/>
            <a:ext cx="50292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“How many casual leaves do</a:t>
            </a:r>
          </a:p>
          <a:p>
            <a:pPr algn="l"/>
            <a:r>
              <a:rPr sz="1500" b="1">
                <a:solidFill>
                  <a:srgbClr val="0B2A4A"/>
                </a:solidFill>
                <a:latin typeface="Calibri"/>
              </a:rPr>
              <a:t>HITS faculty get?”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65760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556677"/>
                </a:solidFill>
                <a:latin typeface="Calibri"/>
              </a:rPr>
              <a:t>It answers (confidently):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31520" y="4023360"/>
            <a:ext cx="4937760" cy="192024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55667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14400" y="4160520"/>
            <a:ext cx="4572000" cy="17373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“Faculty get 15 casual leaves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per year as per UGC norms…”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⚠️  Sounds right.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⚠️  Cites nothing.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⚠️  Completely made up.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1280160"/>
            <a:ext cx="548640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217920" y="1280160"/>
            <a:ext cx="5486400" cy="64008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LLM + 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103120"/>
            <a:ext cx="50292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1">
                <a:solidFill>
                  <a:srgbClr val="556677"/>
                </a:solidFill>
                <a:latin typeface="Calibri"/>
              </a:rPr>
              <a:t>Same question — grounded answer: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492240" y="2560320"/>
            <a:ext cx="4937760" cy="3291840"/>
          </a:xfrm>
          <a:prstGeom prst="roundRect">
            <a:avLst>
              <a:gd name="adj" fmla="val 12000"/>
            </a:avLst>
          </a:prstGeom>
          <a:solidFill>
            <a:srgbClr val="E8F1F8"/>
          </a:solidFill>
          <a:ln w="15875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2697480"/>
            <a:ext cx="4572000" cy="31089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“As per the HITS Faculty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Handbook 2024 (Sec 4.2),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full-time faculty are entitled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to 12 days of casual leave.”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/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✅  Pulled from real doc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✅  Cites section</a:t>
            </a:r>
          </a:p>
          <a:p>
            <a:pPr algn="l"/>
            <a:r>
              <a:rPr sz="1300" b="0">
                <a:solidFill>
                  <a:srgbClr val="1F2D3D"/>
                </a:solidFill>
                <a:latin typeface="Calibri"/>
              </a:rPr>
              <a:t>✅  Verifiable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F4A261"/>
                </a:solidFill>
                <a:latin typeface="Calibri"/>
              </a:rPr>
              <a:t>Hallucination isn’t a bug — it’s the default. RAG fixes it by giving the LLM real facts to ground on.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The Chunk-Size Sweet Spot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Same document, three different chunk sizes — very different results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370332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3703320" cy="822960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3703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Too Small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737360"/>
            <a:ext cx="3703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~100 chars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237744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Loses surrounding context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“leave” alone—can’t tell which kind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Many tiny chunks → fragmented answers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5577840"/>
            <a:ext cx="3383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C23B22"/>
                </a:solidFill>
                <a:latin typeface="Calibri"/>
              </a:rPr>
              <a:t>❌  Specific but meaningless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61688" y="1280160"/>
            <a:ext cx="370332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361688" y="1280160"/>
            <a:ext cx="3703320" cy="82296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361688" y="1371600"/>
            <a:ext cx="3703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Just Right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361688" y="1737360"/>
            <a:ext cx="3703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~500 chars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36008" y="237744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One idea per chunk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Enough context to make sense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Small enough to be precise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Often with 10-20% overlap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44568" y="5577840"/>
            <a:ext cx="3383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2EA043"/>
                </a:solidFill>
                <a:latin typeface="Calibri"/>
              </a:rPr>
              <a:t>✅  The sweet spot for most docs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266175" y="1280160"/>
            <a:ext cx="3703320" cy="49377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266175" y="1280160"/>
            <a:ext cx="3703320" cy="822960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266175" y="1371600"/>
            <a:ext cx="370332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Too Big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66175" y="1737360"/>
            <a:ext cx="370332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FFFFF"/>
                </a:solidFill>
                <a:latin typeface="Calibri"/>
              </a:rPr>
              <a:t>~3000 chars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540495" y="2377440"/>
            <a:ext cx="320040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Mixes multiple topics together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LLM gets distracted by noise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Wastes tokens → more cost</a:t>
            </a:r>
          </a:p>
          <a:p>
            <a:pPr>
              <a:spcAft>
                <a:spcPts val="600"/>
              </a:spcAft>
            </a:pPr>
            <a:r>
              <a:rPr sz="1200">
                <a:solidFill>
                  <a:srgbClr val="1F2D3D"/>
                </a:solidFill>
                <a:latin typeface="Calibri"/>
              </a:rPr>
              <a:t>•  Less precise retrieval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49055" y="5577840"/>
            <a:ext cx="33832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C23B22"/>
                </a:solidFill>
                <a:latin typeface="Calibri"/>
              </a:rPr>
              <a:t>❌  Drowns the signal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0B2A4A"/>
                </a:solidFill>
                <a:latin typeface="Calibri"/>
              </a:rPr>
              <a:t>Rule of thumb: start with 500 chars + 50 overlap. Then tune by trying real questions.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Going Further  —  Advanced RAG Patterns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Tricks that production systems add on top of the basics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554480"/>
            <a:ext cx="8229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000" b="0">
                <a:solidFill>
                  <a:srgbClr val="1F2D3D"/>
                </a:solidFill>
                <a:latin typeface="Calibri"/>
              </a:rPr>
              <a:t>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554480" y="1463040"/>
            <a:ext cx="4297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Hybrid Search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920240"/>
            <a:ext cx="42976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Combine keyword (BM25) + vector search.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Keyword catches exact terms like ‘Section 4.2’; vectors catch meaning.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90488" y="1280160"/>
            <a:ext cx="5486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73368" y="1554480"/>
            <a:ext cx="8229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000" b="0">
                <a:solidFill>
                  <a:srgbClr val="1F2D3D"/>
                </a:solidFill>
                <a:latin typeface="Calibri"/>
              </a:rPr>
              <a:t>🎯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287768" y="1463040"/>
            <a:ext cx="4297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Re-Ranking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287768" y="1920240"/>
            <a:ext cx="42976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Retrieve top 50, then a smarter (slower) model re-sorts them to find the BEST 5.</a:t>
            </a:r>
          </a:p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Huge accuracy boost.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57200" y="2971800"/>
            <a:ext cx="5486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40080" y="3246120"/>
            <a:ext cx="8229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000" b="0">
                <a:solidFill>
                  <a:srgbClr val="1F2D3D"/>
                </a:solidFill>
                <a:latin typeface="Calibri"/>
              </a:rPr>
              <a:t>📄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554480" y="3154680"/>
            <a:ext cx="4297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Parent-Document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554480" y="3611880"/>
            <a:ext cx="42976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Search small chunks for precision, but send the LARGER surrounding paragraph to the LLM for context.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190488" y="2971800"/>
            <a:ext cx="5486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73368" y="3246120"/>
            <a:ext cx="8229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000" b="0">
                <a:solidFill>
                  <a:srgbClr val="1F2D3D"/>
                </a:solidFill>
                <a:latin typeface="Calibri"/>
              </a:rPr>
              <a:t>🧠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287768" y="3154680"/>
            <a:ext cx="4297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Query Rewriting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287768" y="3611880"/>
            <a:ext cx="42976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LLM rephrases the user’s vague question into a better search query before retrieving.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663440"/>
            <a:ext cx="5486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937760"/>
            <a:ext cx="8229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000" b="0">
                <a:solidFill>
                  <a:srgbClr val="1F2D3D"/>
                </a:solidFill>
                <a:latin typeface="Calibri"/>
              </a:rPr>
              <a:t>🗂️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846320"/>
            <a:ext cx="4297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Metadata Filtering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5303520"/>
            <a:ext cx="42976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Tag chunks with course, year, department. Filter BEFORE searching: ‘only CS dept docs from 2024’.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6190488" y="4663440"/>
            <a:ext cx="5486400" cy="1554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7A4EA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373368" y="4937760"/>
            <a:ext cx="822960" cy="7315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3000" b="0">
                <a:solidFill>
                  <a:srgbClr val="1F2D3D"/>
                </a:solidFill>
                <a:latin typeface="Calibri"/>
              </a:rPr>
              <a:t>🔁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287768" y="4846320"/>
            <a:ext cx="429768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Multi-Hop / Agentic RAG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287768" y="5303520"/>
            <a:ext cx="4297680" cy="9144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100" b="0">
                <a:solidFill>
                  <a:srgbClr val="1F2D3D"/>
                </a:solidFill>
                <a:latin typeface="Calibri"/>
              </a:rPr>
              <a:t>For complex questions, the system retrieves, reasons, then retrieves AGAIN. (Bridge to Day 2.)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How Do You Know Your RAG Actually Works?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Evaluation — the part everyone skips, until it bites them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12801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A RAG system can fail at two places. Test BOTH.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57200" y="1920240"/>
            <a:ext cx="54864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457200" y="1920240"/>
            <a:ext cx="5486400" cy="822960"/>
          </a:xfrm>
          <a:prstGeom prst="rect">
            <a:avLst/>
          </a:prstGeom>
          <a:solidFill>
            <a:srgbClr val="009B9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0080" y="2057400"/>
            <a:ext cx="731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🔍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63040" y="2011680"/>
            <a:ext cx="42976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Retrieval Quality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63040" y="237744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Did we fetch the RIGHT chunks?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0175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D3D"/>
                </a:solidFill>
                <a:latin typeface="Calibri"/>
              </a:rPr>
              <a:t>•  Hit Rate  —  is the correct chunk in top-K?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D3D"/>
                </a:solidFill>
                <a:latin typeface="Calibri"/>
              </a:rPr>
              <a:t>•  MRR  —  how high did the correct chunk rank?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D3D"/>
                </a:solidFill>
                <a:latin typeface="Calibri"/>
              </a:rPr>
              <a:t>•  Recall@K  —  fraction of relevant chunks found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190488" y="1920240"/>
            <a:ext cx="5486400" cy="402336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190488" y="1920240"/>
            <a:ext cx="5486400" cy="822960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73368" y="2057400"/>
            <a:ext cx="73152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0">
                <a:solidFill>
                  <a:srgbClr val="FFFFFF"/>
                </a:solidFill>
                <a:latin typeface="Calibri"/>
              </a:rPr>
              <a:t>✍️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96328" y="2011680"/>
            <a:ext cx="429768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  <a:latin typeface="Calibri"/>
              </a:rPr>
              <a:t>Answer Quality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196328" y="2377440"/>
            <a:ext cx="429768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FFFFFF"/>
                </a:solidFill>
                <a:latin typeface="Calibri"/>
              </a:rPr>
              <a:t>Did the LLM use them well?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64808" y="3017520"/>
            <a:ext cx="50292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300">
                <a:solidFill>
                  <a:srgbClr val="1F2D3D"/>
                </a:solidFill>
                <a:latin typeface="Calibri"/>
              </a:rPr>
              <a:t>•  Faithfulness  —  is the answer grounded in the chunks?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D3D"/>
                </a:solidFill>
                <a:latin typeface="Calibri"/>
              </a:rPr>
              <a:t>•  Relevance  —  does it actually answer the question?</a:t>
            </a:r>
          </a:p>
          <a:p>
            <a:pPr>
              <a:spcAft>
                <a:spcPts val="600"/>
              </a:spcAft>
            </a:pPr>
            <a:r>
              <a:rPr sz="1300">
                <a:solidFill>
                  <a:srgbClr val="1F2D3D"/>
                </a:solidFill>
                <a:latin typeface="Calibri"/>
              </a:rPr>
              <a:t>•  Citation Accuracy  —  are the sources correct?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7A4EAB"/>
                </a:solidFill>
                <a:latin typeface="Calibri"/>
              </a:rPr>
              <a:t>Tools: RAGAS  ·  LangSmith  ·  TruLens  —  or build a small ‘golden Q&amp;A’ set by hand.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Privacy-First RAG  —  Runs On YOUR Laptop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For student data, exam papers, internal HR — nothing should leave campus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57200" y="1280160"/>
            <a:ext cx="5486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C23B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57200" y="1280160"/>
            <a:ext cx="5486400" cy="640080"/>
          </a:xfrm>
          <a:prstGeom prst="rect">
            <a:avLst/>
          </a:prstGeom>
          <a:solidFill>
            <a:srgbClr val="C23B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The Worry  😨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103120"/>
            <a:ext cx="493776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Sending student answers to OpenAI?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Uploading internal HR policies to a US server?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What about NAAC confidentiality?</a:t>
            </a:r>
          </a:p>
          <a:p>
            <a:pPr>
              <a:spcAft>
                <a:spcPts val="600"/>
              </a:spcAft>
            </a:pPr>
            <a:r>
              <a:rPr sz="1400">
                <a:solidFill>
                  <a:srgbClr val="1F2D3D"/>
                </a:solidFill>
                <a:latin typeface="Calibri"/>
              </a:rPr>
              <a:t>•  Data leaves campus = compliance nightmare.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1280160"/>
            <a:ext cx="5486400" cy="4572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2EA04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217920" y="1280160"/>
            <a:ext cx="5486400" cy="640080"/>
          </a:xfrm>
          <a:prstGeom prst="rect">
            <a:avLst/>
          </a:prstGeom>
          <a:solidFill>
            <a:srgbClr val="2EA04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17920" y="1371600"/>
            <a:ext cx="5486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The Fix  —  Local Stack  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400800" y="2103120"/>
            <a:ext cx="1828800" cy="59436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224028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4A261"/>
                </a:solidFill>
                <a:latin typeface="Calibri"/>
              </a:rPr>
              <a:t>LLM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228600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Ollama  ·  Llama 3  ·  Mistral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400800" y="2880360"/>
            <a:ext cx="1828800" cy="59436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0" y="301752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4A261"/>
                </a:solidFill>
                <a:latin typeface="Calibri"/>
              </a:rPr>
              <a:t>Embeddings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2480" y="306324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BGE  ·  all-MiniLM (open source)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400800" y="3657600"/>
            <a:ext cx="1828800" cy="59436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400800" y="379476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4A261"/>
                </a:solidFill>
                <a:latin typeface="Calibri"/>
              </a:rPr>
              <a:t>Vector DB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412480" y="384048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Chroma  ·  FAISS  (on disk)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6400800" y="4434840"/>
            <a:ext cx="1828800" cy="594360"/>
          </a:xfrm>
          <a:prstGeom prst="roundRect">
            <a:avLst>
              <a:gd name="adj" fmla="val 12000"/>
            </a:avLst>
          </a:prstGeom>
          <a:solidFill>
            <a:srgbClr val="0B2A4A"/>
          </a:solidFill>
          <a:ln w="15875">
            <a:solidFill>
              <a:srgbClr val="0B2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0" y="4572000"/>
            <a:ext cx="1828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F4A261"/>
                </a:solidFill>
                <a:latin typeface="Calibri"/>
              </a:rPr>
              <a:t>Network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4617720"/>
            <a:ext cx="32004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Zero internet calls required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6126480"/>
            <a:ext cx="1106424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1">
                <a:solidFill>
                  <a:srgbClr val="2EA043"/>
                </a:solidFill>
                <a:latin typeface="Calibri"/>
              </a:rPr>
              <a:t>Same RAG architecture —  just swap each piece for an open-source equivalent.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🚀  Your Turn  —  Build One This Week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566928"/>
            <a:ext cx="1097280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solidFill>
                  <a:srgbClr val="CFE3F5"/>
                </a:solidFill>
                <a:latin typeface="Calibri"/>
              </a:rPr>
              <a:t>A simple 5-step challenge for your own course or department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48640" y="128016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777240" y="1463040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490472"/>
            <a:ext cx="502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54480" y="1389888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Pick ONE document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54480" y="1755648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A syllabus, a policy doc, your lecture notes — anything you know well.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48640" y="224028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777240" y="2423160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7240" y="2450592"/>
            <a:ext cx="502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54480" y="2350008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List 5 real questions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54480" y="2715768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Questions students or colleagues genuinely ask you about that doc.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48640" y="320040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77240" y="3383280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7240" y="3410712"/>
            <a:ext cx="502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554480" y="3310128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Drop it into PolicyBot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554480" y="3675888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Use today’s demo code. No new setup needed. Index your PDF in 1 minute.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16052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77240" y="4343400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77240" y="4370832"/>
            <a:ext cx="502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554480" y="4270248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Ask your 5 questions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554480" y="4636008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Note where it shines  ✅  and where it stumbles  ⚠️.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548640" y="5120640"/>
            <a:ext cx="11064240" cy="8686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F4A26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777240" y="5303520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77240" y="5330952"/>
            <a:ext cx="502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554480" y="5230368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B2A4A"/>
                </a:solidFill>
                <a:latin typeface="Calibri"/>
              </a:rPr>
              <a:t>Share back tomorrow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554480" y="5596128"/>
            <a:ext cx="10058400" cy="41148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200" b="0">
                <a:solidFill>
                  <a:srgbClr val="1F2D3D"/>
                </a:solidFill>
                <a:latin typeface="Calibri"/>
              </a:rPr>
              <a:t>Bring your finding to Day 2 — we’ll turn the best ones into agents.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300" b="1">
                <a:solidFill>
                  <a:srgbClr val="009B9E"/>
                </a:solidFill>
                <a:latin typeface="Calibri"/>
              </a:rPr>
              <a:t>The faculty who actually TRY it tonight will get the most out of Day 2.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5F7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1440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Recap  —  What You Now Know About RAG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48640" y="128016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371600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31520" y="1399032"/>
            <a:ext cx="502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417320" y="1435608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RAG = Retrieve first, then Generate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548640" y="205740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31520" y="2148840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31520" y="2176272"/>
            <a:ext cx="502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17320" y="2212848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It solves the “too much data, too few tokens” problem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48640" y="2834639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731520" y="2926079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31520" y="2953511"/>
            <a:ext cx="502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417320" y="2990087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Documents → chunks → embeddings → vector DB → retrieval → LLM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48640" y="3611879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31520" y="3703319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31520" y="3730751"/>
            <a:ext cx="502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417320" y="3767327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Embeddings let us find by MEANING, not keywords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48640" y="438912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731520" y="4480560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31520" y="4507992"/>
            <a:ext cx="502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5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417320" y="4544568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RAG is the default architecture for enterprise AI today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48640" y="5166360"/>
            <a:ext cx="11064240" cy="6858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5875">
            <a:solidFill>
              <a:srgbClr val="009B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31520" y="5257800"/>
            <a:ext cx="502920" cy="502920"/>
          </a:xfrm>
          <a:prstGeom prst="ellipse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31520" y="5285232"/>
            <a:ext cx="50292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600" b="1">
                <a:solidFill>
                  <a:srgbClr val="FFFFFF"/>
                </a:solidFill>
                <a:latin typeface="Calibri"/>
              </a:rPr>
              <a:t>6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417320" y="5321808"/>
            <a:ext cx="100584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500" b="0">
                <a:solidFill>
                  <a:srgbClr val="1F2D3D"/>
                </a:solidFill>
                <a:latin typeface="Calibri"/>
              </a:rPr>
              <a:t>Tomorrow we'll see what happens when AI starts to ACT — Agentic AI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537960"/>
            <a:ext cx="73152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0">
                <a:solidFill>
                  <a:srgbClr val="556677"/>
                </a:solidFill>
                <a:latin typeface="Calibri"/>
              </a:rPr>
              <a:t>Day 1 • Session 3 — RAG Architecture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1247120" y="6537960"/>
            <a:ext cx="914400" cy="2743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r"/>
            <a:r>
              <a:rPr sz="1000" b="0">
                <a:solidFill>
                  <a:srgbClr val="556677"/>
                </a:solidFill>
                <a:latin typeface="Calibri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2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2926080"/>
            <a:ext cx="12191695" cy="73152"/>
          </a:xfrm>
          <a:prstGeom prst="rect">
            <a:avLst/>
          </a:prstGeom>
          <a:solidFill>
            <a:srgbClr val="F4A26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F4A261"/>
                </a:solidFill>
                <a:latin typeface="Calibri"/>
              </a:rPr>
              <a:t>TOMORROW  —  DAY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463040"/>
            <a:ext cx="10972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800" b="1">
                <a:solidFill>
                  <a:srgbClr val="FFFFFF"/>
                </a:solidFill>
                <a:latin typeface="Calibri"/>
              </a:rPr>
              <a:t>AI that thinks  is useful.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40"/>
            <a:ext cx="10972800" cy="128016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3800" b="1">
                <a:solidFill>
                  <a:srgbClr val="F4A261"/>
                </a:solidFill>
                <a:latin typeface="Calibri"/>
              </a:rPr>
              <a:t>AI that acts  is transformative.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393192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Calibri"/>
              </a:rPr>
              <a:t>Day 2  —  Agentic AI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4572000"/>
            <a:ext cx="10972800" cy="54864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>
                <a:solidFill>
                  <a:srgbClr val="CFE3F5"/>
                </a:solidFill>
                <a:latin typeface="Calibri"/>
              </a:rPr>
              <a:t>Tools • Function-calling • Autonomous agents • Multi-agent systems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943600"/>
            <a:ext cx="10972800" cy="45720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2000" b="1">
                <a:solidFill>
                  <a:srgbClr val="F4A261"/>
                </a:solidFill>
                <a:latin typeface="Calibri"/>
              </a:rPr>
              <a:t>Thank you  —  See you tomorrow!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