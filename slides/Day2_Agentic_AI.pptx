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DAY 2  •  THE WOW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From AI that answers  →  to AI that 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CFE3F5"/>
                </a:solidFill>
                <a:latin typeface="Calibri"/>
              </a:rPr>
              <a:t>Tools. Agents. Multi-agent teams. Live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Two-Day Workshop on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Yesterday, We Built AI That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Today, we build AI that 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Day 1 recap: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Intro to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7568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We understood how AI thinks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Session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46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Faculty Asst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5292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Excel → Prompt → LLM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Session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611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RAG / PolicyBot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63016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Big docs → retrieve → grounded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1F2D3D"/>
                </a:solidFill>
                <a:latin typeface="Calibri"/>
              </a:rPr>
              <a:t>But every single time…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4A261"/>
                </a:solidFill>
                <a:latin typeface="Calibri"/>
              </a:rPr>
              <a:t>YOU had to take the next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7A4EAB"/>
                </a:solidFill>
                <a:latin typeface="Calibri"/>
              </a:rPr>
              <a:t>What if the AI took the action itself?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By the end of today, you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400" b="1">
                <a:solidFill>
                  <a:srgbClr val="F4A261"/>
                </a:solidFill>
                <a:latin typeface="Calibri"/>
              </a:rPr>
              <a:t>an AI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look at your students,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find the ones who need help,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4A261"/>
                </a:solidFill>
                <a:latin typeface="Calibri"/>
              </a:rPr>
              <a:t>and do the whole follow-up — by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So… What is an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It's an LLM that's been given a job, tools, and permission to use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Agent  =  LLM  +  Tools  +  Memory  + 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26517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265176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The brain — reasons &amp; decides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6517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560320"/>
            <a:ext cx="265176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79192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4632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Hands — APIs, code, search,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60320"/>
            <a:ext cx="26517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560320"/>
            <a:ext cx="2651760" cy="64008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679192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Remembers what it did &amp; saw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560320"/>
            <a:ext cx="26517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560320"/>
            <a:ext cx="265176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679192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747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84632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The job you gave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Assistant  vs. 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Same brain. Very different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🤖  ASSISTANT  (yesterday)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Waits for your question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Returns ONE answer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Stops there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You decide what to do next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Reactive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🚀  AGENT  (today)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You give it a GOAL, not a question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Plans its own steps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Uses tools (search, email, calendar, code)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Adapts based on what it sees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Keeps going until the goal is done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Proactive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Agents Think  —  The ReAct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Reason  →  Act  →  Observe  →  Repeat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788920"/>
            <a:ext cx="1554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What should I do next?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88920"/>
            <a:ext cx="1554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Use a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38912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8920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349240"/>
            <a:ext cx="1554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What did I get back?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38912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8920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349240"/>
            <a:ext cx="1554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Goal done? If not, loop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20640" y="2468880"/>
            <a:ext cx="2103120" cy="4572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7772400" y="3749039"/>
            <a:ext cx="914400" cy="548640"/>
          </a:xfrm>
          <a:prstGeom prst="down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5120640" y="5029200"/>
            <a:ext cx="2103120" cy="457200"/>
          </a:xfrm>
          <a:prstGeom prst="lef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3657600" y="3749039"/>
            <a:ext cx="914400" cy="548640"/>
          </a:xfrm>
          <a:prstGeom prst="up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Every modern AI agent — from ChatGPT plugins to Cursor to Devin — runs this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an Agent's 'Thoughts' Look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 real ReAct trace — readable, debuggable, transparent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3075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Identify weak students and email their parents.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647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First I need the student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2219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tool: read_excel('students.xlsx')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7A4EAB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791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6791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Got 47 rows. Columns: Name, Marks, Attendance.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089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363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1363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I'll flag students with marks&lt;40 OR attendance&lt;75.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935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5935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tool: filter(marks&lt;40 or attendance&lt;75)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233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7A4EAB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507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0507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5 students flagged.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05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079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079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Now I'll draft an email per student.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377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651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tool: draft_email(student=…) ×5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949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7A4EAB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22392"/>
            <a:ext cx="1280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422392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5 drafts ready. Goal achieved.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Tools  —  The Agent's Superpower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Anything you can call from code, an agent can call too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74320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🧠 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74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4A261"/>
                </a:solidFill>
                <a:latin typeface="Calibri"/>
              </a:rPr>
              <a:t>(the brain)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3716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727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Read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087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5727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Web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432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03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443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Send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7432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443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Calendar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148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159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Database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1148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2519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3159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Run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6235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6875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Read 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486400"/>
            <a:ext cx="2103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5623560"/>
            <a:ext cx="548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687568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Slack/Teams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The LLM decides WHICH tool to call, with WHAT arguments. We just register them.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Agent is Cool. A TEAM of Agents is Magic.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Multi-agent systems — like a team of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Why split the job across multiple agents?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7A4EAB"/>
                </a:solidFill>
                <a:latin typeface="Calibri"/>
              </a:rPr>
              <a:t>Specialization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40233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Each agent has ONE clear job &amp; prompt. Better results than one mega-prompt.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01168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28600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7A4EAB"/>
                </a:solidFill>
                <a:latin typeface="Calibri"/>
              </a:rPr>
              <a:t>Reusability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788920"/>
            <a:ext cx="40233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An 'Email Drafter' agent works for students, parents, vendors — anywhere.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7A4EAB"/>
                </a:solidFill>
                <a:latin typeface="Calibri"/>
              </a:rPr>
              <a:t>Composability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40233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Mix and match agents for new workflows without rewriting.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0233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29768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4297680"/>
            <a:ext cx="4023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7A4EAB"/>
                </a:solidFill>
                <a:latin typeface="Calibri"/>
              </a:rPr>
              <a:t>Transparency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4800600"/>
            <a:ext cx="40233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When something goes wrong, you can see exactly WHICH agent failed.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Agents Work Together  —  3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Sequential. Hierarchical. Debate.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73152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A pipeline — each agent passes output to the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009B9E"/>
                </a:solidFill>
                <a:latin typeface="Calibri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00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Analyst → Writer →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✨ Our demo uses this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280160"/>
            <a:ext cx="370332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Hierarchical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28600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A manager agent delegates to specialist workers.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40233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425196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4A261"/>
                </a:solidFill>
                <a:latin typeface="Calibri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4617720"/>
            <a:ext cx="3200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Manager → (Researcher, Coder, Writer)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54864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5" y="1280160"/>
            <a:ext cx="3703320" cy="73152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Debate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5" y="228600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Agents argue / critique each other to improve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0495" y="40233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5" y="425196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7A4EAB"/>
                </a:solidFill>
                <a:latin typeface="Calibri"/>
              </a:rPr>
              <a:t>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5" y="4617720"/>
            <a:ext cx="3200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Proposer ⇄ Critic ⇄ Judge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5" y="54864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Meet the Team  —  Faculty Operations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4 specialists, 1 sequential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228600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5187" y="2286000"/>
            <a:ext cx="246888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187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310896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0">
                <a:solidFill>
                  <a:srgbClr val="1F2D3D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06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Identifies at-risk students from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38347" y="34747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12667" y="228600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2667" y="2286000"/>
            <a:ext cx="246888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2667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Communicator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667" y="310896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0">
                <a:solidFill>
                  <a:srgbClr val="1F2D3D"/>
                </a:solidFill>
                <a:latin typeface="Calibri"/>
              </a:rPr>
              <a:t>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554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Drafts personalized mentoring emails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5827" y="34747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0147" y="228600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147" y="2286000"/>
            <a:ext cx="2468880" cy="64008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0147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147" y="310896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0">
                <a:solidFill>
                  <a:srgbClr val="1F2D3D"/>
                </a:solidFill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Books mentoring slots (mock calendar)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33307" y="34747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07627" y="2286000"/>
            <a:ext cx="2468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7627" y="2286000"/>
            <a:ext cx="24688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7627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Reporter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7627" y="310896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0">
                <a:solidFill>
                  <a:srgbClr val="1F2D3D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0507" y="4114800"/>
            <a:ext cx="2103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Writes summary report for HOD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556677"/>
                </a:solidFill>
                <a:latin typeface="Calibri"/>
              </a:rPr>
              <a:t>Same Excel as yesterday's morning demo.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4A261"/>
                </a:solidFill>
                <a:latin typeface="Calibri"/>
              </a:rPr>
              <a:t>But this time, the AI does the whole job.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4A261"/>
                </a:solidFill>
                <a:latin typeface="Calibri"/>
              </a:rPr>
              <a:t>🎬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Faculty Agent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1.  Upload the same student Excel from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2.  Click  ▶ Run Agent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3.  Watch each agent's thinking,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4A261"/>
                </a:solidFill>
                <a:latin typeface="Calibri"/>
              </a:rPr>
              <a:t>4.  Get drafted emails, schedule, and HOD report — in 30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faculty_agent.py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Agentic AI is ALREADY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Not science fiction — production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Coding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Cursor, Devin, GitHub Copilot Workspace — write, run &amp; fix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Customer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Klarna's AI handles 2/3 of all customer tickets autonomously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Research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5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Deep Research (OpenAI/Google) reads 100s of sources, writes briefs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Shopping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Browse + compare + checkout — Amazon's Rufus, Operator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Legal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Review contracts, flag risk clauses, draft amendments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Healthcare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5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Schedule, triage, draft notes — Abridge, Suki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Means for Faculty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Where to put your agent team to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Admissions Triage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Reads applications, scores fit, drafts initial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Grading Assistant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Rubric grader + plagiarism checker + feedback writer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3716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60020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317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Outcome Mapping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5" y="278892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Maps your syllabus to NAAC / NBA criteria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Mentor Companion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Tracks each mentee, flags issues, drafts parent emails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Research Group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Reads new papers in your field, drafts a weekly digest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406908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Curriculum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5" y="5257800"/>
            <a:ext cx="32004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Suggests course updates based on industry trends + alumni jobs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Honest Caveats  —  Agents Can Fail Loudly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Use them with guardrails, not blind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1732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They can loop 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Set max-step limits. Always have a kill switch.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They can spend money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6324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Every step is an LLM call. Watch tokens &amp; set budgets.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86199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They can do the wrong 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79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Always start with HUMAN-IN-THE-LOOP — review before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2064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Tools = power =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53212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Never give an agent direct DB writes / email send without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Elephant in the Room  — 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Every API call is a metered taxi 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Quick napkin math for our Faculty Agent Team: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100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5740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in your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33472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33472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30 agent runs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51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across mentoring, grading,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27832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27832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~15,000 tokens /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2461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data + 4 agent prompts + responses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22192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22192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200 working days /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8404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16552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D"/>
                </a:solidFill>
                <a:latin typeface="Calibri"/>
              </a:rPr>
              <a:t>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16552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≈ $450 / year per faculty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4348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on GPT-4o-mini alone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2064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Now multiply by 200 faculty in your college…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$90,000+ per year. Plus all your data sitting on a US company's servers.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7A4EAB"/>
                </a:solidFill>
                <a:latin typeface="Calibri"/>
              </a:rPr>
              <a:t>There IS another way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Open-Source LLMs  —  Run Your Own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Free to download. Free to run. Free to modify.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Top open models released in 2024-2026: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Llama 3.x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70B-405B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General purpose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92024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05740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🌬️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Mistral / Mixtral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46888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Mistral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9260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7B-141B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2918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Fast, efficient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192024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5" y="205740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Qwen 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246888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Alibaba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5" y="29260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0.5B-72B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5" y="32918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Strong multilingual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2336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Gemma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720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Google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2B-27B params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Lightweight, smart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402336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416052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528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DeepSeek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45720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DeepSeek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16B-671B params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Reasoning &amp; 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5" y="4023360"/>
            <a:ext cx="36576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5" y="416052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5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Phi-3 / Phi-4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5" y="45720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by Microsoft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5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3B-14B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5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Tiny but mighty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All of these are FREE to download from Hugging Face. Many run on a laptop.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Closed  vs.  Open  —  Honest Tradeoffs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Neither is 'better.' They're tools for different jobs.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🔒  CLOSED   (GPT, Claude, Gemini)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🌍  OPEN   (Llama, Mistral, Qwen)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Smartness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7627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Top of the leaderboard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Close — and catching up fast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69748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Cost per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81635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Pay per token. Adds 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9748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16352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Free (you own the hardware)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33756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Data privacy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45643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Leaves your campus to vendor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33756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56432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Stays 100% on your servers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77639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69079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Setup effort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096511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Sign up. Paste key. Done.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77639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1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Needs a GPU or decent CPU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461772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091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Customization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73659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Limited prompting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61772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36592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Fine-tune on YOUR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57800"/>
            <a:ext cx="0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" y="525780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492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Internet?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Always required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257800"/>
            <a:ext cx="5486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376672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Works fully offline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Run a Real LLM on Your Laptop  — 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Meet Ollama. Pip-install simple, totally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Install Ollama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918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ollama.com  →  one-click installer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(Windows, Mac, Linux)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554480"/>
            <a:ext cx="731520" cy="731520"/>
          </a:xfrm>
          <a:prstGeom prst="ellipse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81912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Pull 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560320"/>
            <a:ext cx="32918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ollama pull llama3.2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2801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0495" y="1554480"/>
            <a:ext cx="731520" cy="731520"/>
          </a:xfrm>
          <a:prstGeom prst="ellipse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5" y="1581912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5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Talk to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5" y="2560320"/>
            <a:ext cx="32918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ollama run llama3.2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And here's the punchline — switching our agents from OpenAI to Llama is a 2-line change: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698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# Before — pay per token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client = OpenAI(api_key="sk-...")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resp = client.chat.completions.create(model="gpt-4o-mini", messages=[...])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# After — runs locally, FREE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client = OpenAI(base_url="http://localhost:11434/v1", api_key="ollama")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resp = client.chat.completions.create(model="llama3.2", messages=[...])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4A261"/>
                </a:solidFill>
                <a:latin typeface="Calibri"/>
              </a:rPr>
              <a:t>Same OpenAI SDK. Same prompts. Different endpoint. Zero ongoing cost.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“Can a Local LLM Tell Me Today's News?”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The #1 question faculty will ask. Here's the honest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Short answer:  NO.   And that's okay.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CFE3F5"/>
                </a:solidFill>
                <a:latin typeface="Calibri"/>
              </a:rPr>
              <a:t>A local LLM only knows what was in its training data — frozen at a cutoff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5349240" cy="50292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5029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✅  What it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Explain concepts, write, summarize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Draft emails, lesson plans, quizzes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Code &amp; debug — fully offline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Answer from its training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5176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651760"/>
            <a:ext cx="534924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5029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❌  What it CAN'T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Today's news, scores, weather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Live stock / exam results / notices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Read your files or the internet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⚠️  If pushed — it may HALLUCINATE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7A4EAB"/>
                </a:solidFill>
                <a:latin typeface="Calibri"/>
              </a:rPr>
              <a:t>Analogy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70448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A brilliant scholar locked in a library — knows a lot, learns nothing new.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Then How Do We Make It Useful?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Three building blocks — and you've seen all of them in this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8686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9903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Local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B9E"/>
                </a:solidFill>
                <a:latin typeface="Calibri"/>
              </a:rPr>
              <a:t>Private  •  Offline  • 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2918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Use for: drafting, coding, Q&amp;A from general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6344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8F1F8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556677"/>
                </a:solidFill>
                <a:latin typeface="Calibri"/>
              </a:rPr>
              <a:t>Workshop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Demo:  local_llm_chat.py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28016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280160"/>
            <a:ext cx="3703320" cy="86868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37160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39903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33172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7A4EAB"/>
                </a:solidFill>
                <a:latin typeface="Calibri"/>
              </a:rPr>
              <a:t>Grounded in YOUR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834640"/>
            <a:ext cx="32918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Use for: policy docs, syllabi, lecture notes, FAQs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66344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8F1F8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4736592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556677"/>
                </a:solidFill>
                <a:latin typeface="Calibri"/>
              </a:rPr>
              <a:t>Workshop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983480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Demo:  PolicyBot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5" y="128016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1280160"/>
            <a:ext cx="3703320" cy="8686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137160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1F2D3D"/>
                </a:solidFill>
                <a:latin typeface="Calibri"/>
              </a:rPr>
              <a:t>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5" y="139903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5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5" y="233172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Tools — web, email, code,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5" y="2834640"/>
            <a:ext cx="32918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Use for: live data, multi-step tasks, automation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4775" y="466344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8F1F8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5" y="4736592"/>
            <a:ext cx="3108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556677"/>
                </a:solidFill>
                <a:latin typeface="Calibri"/>
              </a:rPr>
              <a:t>Workshop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5" y="4983480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Demo:  Faculty Agent Team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4A261"/>
                </a:solidFill>
                <a:latin typeface="Calibri"/>
              </a:rPr>
              <a:t>Local LLM is the BRAIN.   RAG gives it MEMORY.   Agents give it HANDS.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Which Should YOU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 practical decision guide for faculty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321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3212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99032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Calibri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Quick prototype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Use CLOSED  (GPT-4o-mini, Claude Haiku)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1206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Fastest path. Pay-as-you-go. What we used in this workshop.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5321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53212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44752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Student data / exam papers /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Use OPEN  (Llama, Mistral on campus servers)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1206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Data privacy is non-negotiable. Stay local.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5321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5532120" cy="640080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67911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Calibri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13631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Production at scale (1000s/day)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26279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7A4EAB"/>
                </a:solidFill>
                <a:latin typeface="Calibri"/>
              </a:rPr>
              <a:t>Use OPEN  or  HYBRID  (route easy queries to small open model, hard ones to closed)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199"/>
            <a:ext cx="51206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Cost flips dramatically — open wins at scale.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5321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553212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913631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Need top-tier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26279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Use CLOSED  (still ahead on the hardest tasks)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29199"/>
            <a:ext cx="51206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GPT-4 / Claude Opus / Gemini Pro for complex reasoning.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7A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Two-Day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From understanding AI  →  to commanding a team of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" y="228600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2286000"/>
            <a:ext cx="2560320" cy="77724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307" y="23957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320040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Intro to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749040"/>
            <a:ext cx="2194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Understand the brain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6907" y="32461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1227" y="228600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1227" y="2286000"/>
            <a:ext cx="2560320" cy="77724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1227" y="23957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20040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Faculty Asst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4107" y="3749040"/>
            <a:ext cx="2194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First working AI app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5827" y="32461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0147" y="228600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147" y="2286000"/>
            <a:ext cx="2560320" cy="77724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0147" y="23957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147" y="320040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RAG / PolicyBot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3749040"/>
            <a:ext cx="2194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AI grounded in your docs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24747" y="3246120"/>
            <a:ext cx="320040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9067" y="228600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9067" y="2286000"/>
            <a:ext cx="2560320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99067" y="2395728"/>
            <a:ext cx="25603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9067" y="320040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Agentic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1947" y="3749040"/>
            <a:ext cx="2194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AI that 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1F2D3D"/>
                </a:solidFill>
                <a:latin typeface="Calibri"/>
              </a:rPr>
              <a:t>Yesterday you learned how AI thinks.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1F2D3D"/>
                </a:solidFill>
                <a:latin typeface="Calibri"/>
              </a:rPr>
              <a:t>Today you saw what AI does when you give it tools.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Tomorrow — you build your 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2 — Agentic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F4A261"/>
                </a:solidFill>
                <a:latin typeface="Calibri"/>
              </a:rPr>
              <a:t>You're now ahead of 99% of educators on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Go build something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4A261"/>
                </a:solidFill>
                <a:latin typeface="Calibri"/>
              </a:rPr>
              <a:t>🎓  AI Faculty Assistant  •  📚 PolicyBot  •  🤖 Faculty Agent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Questions?  Let's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